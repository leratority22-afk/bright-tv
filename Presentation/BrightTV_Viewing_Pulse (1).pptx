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Race</c:v>
                </c:pt>
              </c:strCache>
            </c:strRef>
          </c:tx>
          <c:spPr>
            <a:solidFill>
              <a:srgbClr val="F26B2C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4F1E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6B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45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8DE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DD4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C94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Black</c:v>
                  </c:pt>
                  <c:pt idx="1">
                    <c:v>Coloured</c:v>
                  </c:pt>
                  <c:pt idx="2">
                    <c:v>Indian/Asian</c:v>
                  </c:pt>
                  <c:pt idx="3">
                    <c:v>White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48.5</c:v>
                </c:pt>
                <c:pt idx="1">
                  <c:v>18.3</c:v>
                </c:pt>
                <c:pt idx="2">
                  <c:v>17.6</c:v>
                </c:pt>
                <c:pt idx="3">
                  <c:v>14.5</c:v>
                </c:pt>
                <c:pt idx="4">
                  <c:v>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4F1E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A2F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A2F4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94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01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26B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4F1E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Under 18</c:v>
                  </c:pt>
                  <c:pt idx="1">
                    <c:v>18–25</c:v>
                  </c:pt>
                  <c:pt idx="2">
                    <c:v>26–35</c:v>
                  </c:pt>
                  <c:pt idx="3">
                    <c:v>36–50</c:v>
                  </c:pt>
                  <c:pt idx="4">
                    <c:v>50+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700</c:v>
                </c:pt>
                <c:pt idx="2">
                  <c:v>4300</c:v>
                </c:pt>
                <c:pt idx="3">
                  <c:v>3100</c:v>
                </c:pt>
                <c:pt idx="4">
                  <c:v>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4F1E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F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F4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01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6B2C"/>
              </a:solidFill>
              <a:effectLst/>
            </c:spPr>
          </c:dPt>
          <c:dPt>
            <c:idx val="1"/>
            <c:bubble3D val="0"/>
            <c:spPr>
              <a:solidFill>
                <a:srgbClr val="E8458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4F1EA"/>
                      </a:solidFill>
                      <a:latin typeface="Consola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4F1EA"/>
                      </a:solidFill>
                      <a:latin typeface="Consola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 90%</c:v>
                </c:pt>
                <c:pt idx="1">
                  <c:v>Female 10%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</c:ser>
        <c:firstSliceAng val="0"/>
        <c:holeSize val="60"/>
      </c:doughnutChart>
      <c:spPr>
        <a:solidFill>
          <a:srgbClr val="0E10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4F1E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26B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E94A8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Gauteng</c:v>
                  </c:pt>
                  <c:pt idx="1">
                    <c:v>Western Cape</c:v>
                  </c:pt>
                  <c:pt idx="2">
                    <c:v>KwaZulu-Natal</c:v>
                  </c:pt>
                  <c:pt idx="3">
                    <c:v>Mpumalanga</c:v>
                  </c:pt>
                  <c:pt idx="4">
                    <c:v>Limpopo</c:v>
                  </c:pt>
                  <c:pt idx="5">
                    <c:v>Eastern Cape</c:v>
                  </c:pt>
                  <c:pt idx="6">
                    <c:v>North West</c:v>
                  </c:pt>
                  <c:pt idx="7">
                    <c:v>Free State</c:v>
                  </c:pt>
                  <c:pt idx="8">
                    <c:v>Northern Cape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3600</c:v>
                </c:pt>
                <c:pt idx="1">
                  <c:v>1850</c:v>
                </c:pt>
                <c:pt idx="2">
                  <c:v>950</c:v>
                </c:pt>
                <c:pt idx="3">
                  <c:v>550</c:v>
                </c:pt>
                <c:pt idx="4">
                  <c:v>500</c:v>
                </c:pt>
                <c:pt idx="5">
                  <c:v>500</c:v>
                </c:pt>
                <c:pt idx="6">
                  <c:v>300</c:v>
                </c:pt>
                <c:pt idx="7">
                  <c:v>150</c:v>
                </c:pt>
                <c:pt idx="8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8E94A8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A2F4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01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26B2C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200</c:v>
                </c:pt>
                <c:pt idx="1">
                  <c:v>140</c:v>
                </c:pt>
                <c:pt idx="2">
                  <c:v>100</c:v>
                </c:pt>
                <c:pt idx="3">
                  <c:v>80</c:v>
                </c:pt>
                <c:pt idx="4">
                  <c:v>70</c:v>
                </c:pt>
                <c:pt idx="5">
                  <c:v>60</c:v>
                </c:pt>
                <c:pt idx="6">
                  <c:v>90</c:v>
                </c:pt>
                <c:pt idx="7">
                  <c:v>180</c:v>
                </c:pt>
                <c:pt idx="8">
                  <c:v>320</c:v>
                </c:pt>
                <c:pt idx="9">
                  <c:v>460</c:v>
                </c:pt>
                <c:pt idx="10">
                  <c:v>510</c:v>
                </c:pt>
                <c:pt idx="11">
                  <c:v>540</c:v>
                </c:pt>
                <c:pt idx="12">
                  <c:v>580</c:v>
                </c:pt>
                <c:pt idx="13">
                  <c:v>560</c:v>
                </c:pt>
                <c:pt idx="14">
                  <c:v>590</c:v>
                </c:pt>
                <c:pt idx="15">
                  <c:v>600</c:v>
                </c:pt>
                <c:pt idx="16">
                  <c:v>640</c:v>
                </c:pt>
                <c:pt idx="17">
                  <c:v>720</c:v>
                </c:pt>
                <c:pt idx="18">
                  <c:v>740</c:v>
                </c:pt>
                <c:pt idx="19">
                  <c:v>705</c:v>
                </c:pt>
                <c:pt idx="20">
                  <c:v>660</c:v>
                </c:pt>
                <c:pt idx="21">
                  <c:v>590</c:v>
                </c:pt>
                <c:pt idx="22">
                  <c:v>410</c:v>
                </c:pt>
                <c:pt idx="23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F4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94A8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F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F4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94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01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26B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4F1E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6B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6B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45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45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6B2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F8DE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2C94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2C94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DD4D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8458F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SuperSport Live Events</c:v>
                  </c:pt>
                  <c:pt idx="1">
                    <c:v>ICC Cricket World Cup 2011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SuperSport Blitz</c:v>
                  </c:pt>
                  <c:pt idx="5">
                    <c:v>Africa Magic</c:v>
                  </c:pt>
                  <c:pt idx="6">
                    <c:v>Cartoon Network</c:v>
                  </c:pt>
                  <c:pt idx="7">
                    <c:v>Boomerang</c:v>
                  </c:pt>
                  <c:pt idx="8">
                    <c:v>CNN</c:v>
                  </c:pt>
                  <c:pt idx="9">
                    <c:v>E! Entertainment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1600</c:v>
                </c:pt>
                <c:pt idx="1">
                  <c:v>1450</c:v>
                </c:pt>
                <c:pt idx="2">
                  <c:v>1050</c:v>
                </c:pt>
                <c:pt idx="3">
                  <c:v>950</c:v>
                </c:pt>
                <c:pt idx="4">
                  <c:v>900</c:v>
                </c:pt>
                <c:pt idx="5">
                  <c:v>850</c:v>
                </c:pt>
                <c:pt idx="6">
                  <c:v>800</c:v>
                </c:pt>
                <c:pt idx="7">
                  <c:v>700</c:v>
                </c:pt>
                <c:pt idx="8">
                  <c:v>480</c:v>
                </c:pt>
                <c:pt idx="9">
                  <c:v>360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4F1E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A2F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01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E8458F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Jan 03</c:v>
                  </c:pt>
                  <c:pt idx="1">
                    <c:v>Jan 10</c:v>
                  </c:pt>
                  <c:pt idx="2">
                    <c:v>Jan 17</c:v>
                  </c:pt>
                  <c:pt idx="3">
                    <c:v>Jan 24</c:v>
                  </c:pt>
                  <c:pt idx="4">
                    <c:v>Jan 31</c:v>
                  </c:pt>
                  <c:pt idx="5">
                    <c:v>Feb 07</c:v>
                  </c:pt>
                  <c:pt idx="6">
                    <c:v>Feb 14</c:v>
                  </c:pt>
                  <c:pt idx="7">
                    <c:v>Feb 21</c:v>
                  </c:pt>
                  <c:pt idx="8">
                    <c:v>Feb 28</c:v>
                  </c:pt>
                  <c:pt idx="9">
                    <c:v>Mar 06</c:v>
                  </c:pt>
                  <c:pt idx="10">
                    <c:v>Mar 13</c:v>
                  </c:pt>
                  <c:pt idx="11">
                    <c:v>Mar 20</c:v>
                  </c:pt>
                  <c:pt idx="12">
                    <c:v>Mar 27</c:v>
                  </c:pt>
                  <c:pt idx="13">
                    <c:v>Apr 03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380</c:v>
                </c:pt>
                <c:pt idx="1">
                  <c:v>1480</c:v>
                </c:pt>
                <c:pt idx="2">
                  <c:v>520</c:v>
                </c:pt>
                <c:pt idx="3">
                  <c:v>1820</c:v>
                </c:pt>
                <c:pt idx="4">
                  <c:v>410</c:v>
                </c:pt>
                <c:pt idx="5">
                  <c:v>1320</c:v>
                </c:pt>
                <c:pt idx="6">
                  <c:v>470</c:v>
                </c:pt>
                <c:pt idx="7">
                  <c:v>1610</c:v>
                </c:pt>
                <c:pt idx="8">
                  <c:v>540</c:v>
                </c:pt>
                <c:pt idx="9">
                  <c:v>1740</c:v>
                </c:pt>
                <c:pt idx="10">
                  <c:v>660</c:v>
                </c:pt>
                <c:pt idx="11">
                  <c:v>1980</c:v>
                </c:pt>
                <c:pt idx="12">
                  <c:v>720</c:v>
                </c:pt>
                <c:pt idx="13">
                  <c:v>2180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F4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94A8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F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F4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94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01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F26B2C">
              <a:alpha val="12000"/>
            </a:srgbClr>
          </a:solidFill>
          <a:ln w="12700">
            <a:solidFill>
              <a:srgbClr val="F26B2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0"/>
            <a:ext cx="3200400" cy="0"/>
          </a:xfrm>
          <a:prstGeom prst="line">
            <a:avLst/>
          </a:prstGeom>
          <a:noFill/>
          <a:ln w="31750">
            <a:solidFill>
              <a:srgbClr val="F26B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657600"/>
            <a:ext cx="365760" cy="-731520"/>
          </a:xfrm>
          <a:prstGeom prst="line">
            <a:avLst/>
          </a:prstGeom>
          <a:noFill/>
          <a:ln w="31750">
            <a:solidFill>
              <a:srgbClr val="F26B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2926080"/>
            <a:ext cx="365760" cy="1463040"/>
          </a:xfrm>
          <a:prstGeom prst="line">
            <a:avLst/>
          </a:prstGeom>
          <a:noFill/>
          <a:ln w="31750">
            <a:solidFill>
              <a:srgbClr val="F26B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4389120"/>
            <a:ext cx="365760" cy="-2194560"/>
          </a:xfrm>
          <a:prstGeom prst="line">
            <a:avLst/>
          </a:prstGeom>
          <a:noFill/>
          <a:ln w="31750">
            <a:solidFill>
              <a:srgbClr val="F26B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2194560"/>
            <a:ext cx="365760" cy="2560320"/>
          </a:xfrm>
          <a:prstGeom prst="line">
            <a:avLst/>
          </a:prstGeom>
          <a:noFill/>
          <a:ln w="31750">
            <a:solidFill>
              <a:srgbClr val="F26B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4754880"/>
            <a:ext cx="365760" cy="-1463040"/>
          </a:xfrm>
          <a:prstGeom prst="line">
            <a:avLst/>
          </a:prstGeom>
          <a:noFill/>
          <a:ln w="31750">
            <a:solidFill>
              <a:srgbClr val="F26B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291840"/>
            <a:ext cx="365760" cy="365760"/>
          </a:xfrm>
          <a:prstGeom prst="line">
            <a:avLst/>
          </a:prstGeom>
          <a:noFill/>
          <a:ln w="31750">
            <a:solidFill>
              <a:srgbClr val="F26B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3657600"/>
            <a:ext cx="5852160" cy="0"/>
          </a:xfrm>
          <a:prstGeom prst="line">
            <a:avLst/>
          </a:prstGeom>
          <a:noFill/>
          <a:ln w="31750">
            <a:solidFill>
              <a:srgbClr val="F26B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4663440"/>
            <a:ext cx="182880" cy="18288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ANALYSIS · LERATO MONYEBODI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0058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BrightTV: </a:t>
            </a:r>
            <a:pPr indent="0" marL="0">
              <a:buNone/>
            </a:pPr>
            <a:r>
              <a:rPr lang="en-US" sz="6000" b="1" dirty="0">
                <a:solidFill>
                  <a:srgbClr val="FF8B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Viewing Pulse.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E94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Transforming event-driven volatility into a daily habit.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standardised to South African Standard Time (SAST · UTC+2)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SCALE · Q1 BASELINE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numbers that frame the quarter.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0868" y="1920240"/>
            <a:ext cx="2606040" cy="3657600"/>
          </a:xfrm>
          <a:prstGeom prst="roundRect">
            <a:avLst>
              <a:gd name="adj" fmla="val 6316"/>
            </a:avLst>
          </a:prstGeom>
          <a:solidFill>
            <a:srgbClr val="1F1A22"/>
          </a:solidFill>
          <a:ln w="12700">
            <a:solidFill>
              <a:srgbClr val="F26B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5188" y="21945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SESSIONS ANALYSED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5188" y="269748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15188" y="50292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4,386 unique active 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75508" y="1920240"/>
            <a:ext cx="2606040" cy="3657600"/>
          </a:xfrm>
          <a:prstGeom prst="roundRect">
            <a:avLst>
              <a:gd name="adj" fmla="val 6316"/>
            </a:avLst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49828" y="21945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SESSIONS PER USER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49828" y="269748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2.28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49828" y="50292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YoY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0148" y="1920240"/>
            <a:ext cx="2606040" cy="3657600"/>
          </a:xfrm>
          <a:prstGeom prst="roundRect">
            <a:avLst>
              <a:gd name="adj" fmla="val 6316"/>
            </a:avLst>
          </a:prstGeom>
          <a:solidFill>
            <a:srgbClr val="1F1A22"/>
          </a:solidFill>
          <a:ln w="12700">
            <a:solidFill>
              <a:srgbClr val="F26B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4468" y="21945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 VIEWING WINDOW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84468" y="269748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17:00 – 19:00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84468" y="50292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· +28% lift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44788" y="1920240"/>
            <a:ext cx="2606040" cy="3657600"/>
          </a:xfrm>
          <a:prstGeom prst="roundRect">
            <a:avLst>
              <a:gd name="adj" fmla="val 6316"/>
            </a:avLst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9108" y="21945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PERFORMING CHANNEL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19108" y="269748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SuperSport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319108" y="50292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· 1,600+ sessions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 OF A VIEWER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Baseline Viewer.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6B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90% Male · 26–35 Core · Gauteng-Based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RACE DISTRIBUTION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2316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 BY AGE GROUP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400800" y="2423160"/>
          <a:ext cx="5212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concentrated in a narrow profile: young, male, metropolitan sports-watchers.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gender gap &amp; the regional gap.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 SPLIT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6916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 BY PROVINCE</a:t>
            </a:r>
            <a:endParaRPr lang="en-US" sz="9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852160" y="2011680"/>
          <a:ext cx="58521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34924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1F1A22"/>
          </a:solidFill>
          <a:ln w="9525">
            <a:solidFill>
              <a:srgbClr val="F26B2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MISSING 40%+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31520" y="5669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untapped female subscriber base, currently unserved by our sports-heavy lineup.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DAY IN THE LIFE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Golden Hour · 17:00 – 19:00.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11064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54864" cy="548640"/>
          </a:xfrm>
          <a:prstGeom prst="rect">
            <a:avLst/>
          </a:prstGeom>
          <a:solidFill>
            <a:srgbClr val="8E94A8"/>
          </a:solidFill>
          <a:ln w="12700">
            <a:solidFill>
              <a:srgbClr val="8E94A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00–07 PRE-SLEEP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5800" y="5760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23160" y="5486400"/>
            <a:ext cx="54864" cy="548640"/>
          </a:xfrm>
          <a:prstGeom prst="rect">
            <a:avLst/>
          </a:prstGeom>
          <a:solidFill>
            <a:srgbClr val="8E94A8"/>
          </a:solidFill>
          <a:ln w="12700">
            <a:solidFill>
              <a:srgbClr val="8E94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08–15 WORKDAY SLUMP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560320" y="5760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only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97680" y="5486400"/>
            <a:ext cx="54864" cy="548640"/>
          </a:xfrm>
          <a:prstGeom prst="rect">
            <a:avLst/>
          </a:prstGeom>
          <a:solidFill>
            <a:srgbClr val="4F8DEF"/>
          </a:solidFill>
          <a:ln w="12700">
            <a:solidFill>
              <a:srgbClr val="4F8D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484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COMMUTE / LOG-ON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434840" y="5760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builds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72200" y="5486400"/>
            <a:ext cx="54864" cy="548640"/>
          </a:xfrm>
          <a:prstGeom prst="rect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17–19 GOLDEN HOUR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309360" y="5760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push window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046720" y="5486400"/>
            <a:ext cx="54864" cy="548640"/>
          </a:xfrm>
          <a:prstGeom prst="rect">
            <a:avLst/>
          </a:prstGeom>
          <a:solidFill>
            <a:srgbClr val="8E94A8"/>
          </a:solidFill>
          <a:ln w="12700">
            <a:solidFill>
              <a:srgbClr val="8E94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388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20–21 EVENING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183880" y="5760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decline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921240" y="5486400"/>
            <a:ext cx="54864" cy="548640"/>
          </a:xfrm>
          <a:prstGeom prst="rect">
            <a:avLst/>
          </a:prstGeom>
          <a:solidFill>
            <a:srgbClr val="8E94A8"/>
          </a:solidFill>
          <a:ln w="12700">
            <a:solidFill>
              <a:srgbClr val="8E94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22–23 WIND DOWN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058400" y="5760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decline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VIEWERSHIP DYNAMICS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Day × Hour heatmap.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0" y="1508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520440" y="1508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89320" y="1508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23760" y="1508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58200" y="1508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92640" y="1508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97280" y="1828800"/>
            <a:ext cx="374904" cy="374904"/>
          </a:xfrm>
          <a:prstGeom prst="rect">
            <a:avLst/>
          </a:prstGeom>
          <a:solidFill>
            <a:srgbClr val="F26B2C">
              <a:alpha val="1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1828800"/>
            <a:ext cx="374904" cy="374904"/>
          </a:xfrm>
          <a:prstGeom prst="rect">
            <a:avLst/>
          </a:prstGeom>
          <a:solidFill>
            <a:srgbClr val="F26B2C">
              <a:alpha val="1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1828800"/>
            <a:ext cx="374904" cy="374904"/>
          </a:xfrm>
          <a:prstGeom prst="rect">
            <a:avLst/>
          </a:prstGeom>
          <a:solidFill>
            <a:srgbClr val="F26B2C">
              <a:alpha val="1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1828800"/>
            <a:ext cx="374904" cy="374904"/>
          </a:xfrm>
          <a:prstGeom prst="rect">
            <a:avLst/>
          </a:prstGeom>
          <a:solidFill>
            <a:srgbClr val="F26B2C">
              <a:alpha val="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828800"/>
            <a:ext cx="374904" cy="374904"/>
          </a:xfrm>
          <a:prstGeom prst="rect">
            <a:avLst/>
          </a:prstGeom>
          <a:solidFill>
            <a:srgbClr val="F26B2C">
              <a:alpha val="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1828800"/>
            <a:ext cx="374904" cy="374904"/>
          </a:xfrm>
          <a:prstGeom prst="rect">
            <a:avLst/>
          </a:prstGeom>
          <a:solidFill>
            <a:srgbClr val="F26B2C">
              <a:alpha val="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1828800"/>
            <a:ext cx="374904" cy="374904"/>
          </a:xfrm>
          <a:prstGeom prst="rect">
            <a:avLst/>
          </a:prstGeom>
          <a:solidFill>
            <a:srgbClr val="F26B2C">
              <a:alpha val="1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1828800"/>
            <a:ext cx="374904" cy="374904"/>
          </a:xfrm>
          <a:prstGeom prst="rect">
            <a:avLst/>
          </a:prstGeom>
          <a:solidFill>
            <a:srgbClr val="F26B2C">
              <a:alpha val="1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1828800"/>
            <a:ext cx="374904" cy="374904"/>
          </a:xfrm>
          <a:prstGeom prst="rect">
            <a:avLst/>
          </a:prstGeom>
          <a:solidFill>
            <a:srgbClr val="F26B2C">
              <a:alpha val="2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828800"/>
            <a:ext cx="374904" cy="374904"/>
          </a:xfrm>
          <a:prstGeom prst="rect">
            <a:avLst/>
          </a:prstGeom>
          <a:solidFill>
            <a:srgbClr val="F26B2C">
              <a:alpha val="3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1828800"/>
            <a:ext cx="374904" cy="374904"/>
          </a:xfrm>
          <a:prstGeom prst="rect">
            <a:avLst/>
          </a:prstGeom>
          <a:solidFill>
            <a:srgbClr val="F26B2C">
              <a:alpha val="3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1828800"/>
            <a:ext cx="374904" cy="374904"/>
          </a:xfrm>
          <a:prstGeom prst="rect">
            <a:avLst/>
          </a:prstGeom>
          <a:solidFill>
            <a:srgbClr val="F26B2C">
              <a:alpha val="3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828800"/>
            <a:ext cx="374904" cy="374904"/>
          </a:xfrm>
          <a:prstGeom prst="rect">
            <a:avLst/>
          </a:prstGeom>
          <a:solidFill>
            <a:srgbClr val="F26B2C">
              <a:alpha val="3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1828800"/>
            <a:ext cx="374904" cy="374904"/>
          </a:xfrm>
          <a:prstGeom prst="rect">
            <a:avLst/>
          </a:prstGeom>
          <a:solidFill>
            <a:srgbClr val="F26B2C">
              <a:alpha val="3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828800"/>
            <a:ext cx="374904" cy="374904"/>
          </a:xfrm>
          <a:prstGeom prst="rect">
            <a:avLst/>
          </a:prstGeom>
          <a:solidFill>
            <a:srgbClr val="F26B2C">
              <a:alpha val="3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480" y="1828800"/>
            <a:ext cx="374904" cy="374904"/>
          </a:xfrm>
          <a:prstGeom prst="rect">
            <a:avLst/>
          </a:prstGeom>
          <a:solidFill>
            <a:srgbClr val="F26B2C">
              <a:alpha val="3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1828800"/>
            <a:ext cx="374904" cy="374904"/>
          </a:xfrm>
          <a:prstGeom prst="rect">
            <a:avLst/>
          </a:prstGeom>
          <a:solidFill>
            <a:srgbClr val="F26B2C">
              <a:alpha val="4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1828800"/>
            <a:ext cx="374904" cy="374904"/>
          </a:xfrm>
          <a:prstGeom prst="rect">
            <a:avLst/>
          </a:prstGeom>
          <a:solidFill>
            <a:srgbClr val="F26B2C">
              <a:alpha val="4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3920" y="1828800"/>
            <a:ext cx="374904" cy="374904"/>
          </a:xfrm>
          <a:prstGeom prst="rect">
            <a:avLst/>
          </a:prstGeom>
          <a:solidFill>
            <a:srgbClr val="F26B2C">
              <a:alpha val="4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15400" y="1828800"/>
            <a:ext cx="374904" cy="374904"/>
          </a:xfrm>
          <a:prstGeom prst="rect">
            <a:avLst/>
          </a:prstGeom>
          <a:solidFill>
            <a:srgbClr val="F26B2C">
              <a:alpha val="44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6880" y="1828800"/>
            <a:ext cx="374904" cy="374904"/>
          </a:xfrm>
          <a:prstGeom prst="rect">
            <a:avLst/>
          </a:prstGeom>
          <a:solidFill>
            <a:srgbClr val="F26B2C">
              <a:alpha val="4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38360" y="1828800"/>
            <a:ext cx="374904" cy="374904"/>
          </a:xfrm>
          <a:prstGeom prst="rect">
            <a:avLst/>
          </a:prstGeom>
          <a:solidFill>
            <a:srgbClr val="F26B2C">
              <a:alpha val="3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49840" y="1828800"/>
            <a:ext cx="374904" cy="374904"/>
          </a:xfrm>
          <a:prstGeom prst="rect">
            <a:avLst/>
          </a:prstGeom>
          <a:solidFill>
            <a:srgbClr val="F26B2C">
              <a:alpha val="2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61320" y="1828800"/>
            <a:ext cx="374904" cy="374904"/>
          </a:xfrm>
          <a:prstGeom prst="rect">
            <a:avLst/>
          </a:prstGeom>
          <a:solidFill>
            <a:srgbClr val="F26B2C">
              <a:alpha val="1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97280" y="2240280"/>
            <a:ext cx="374904" cy="374904"/>
          </a:xfrm>
          <a:prstGeom prst="rect">
            <a:avLst/>
          </a:prstGeom>
          <a:solidFill>
            <a:srgbClr val="F26B2C">
              <a:alpha val="1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08760" y="2240280"/>
            <a:ext cx="374904" cy="374904"/>
          </a:xfrm>
          <a:prstGeom prst="rect">
            <a:avLst/>
          </a:prstGeom>
          <a:solidFill>
            <a:srgbClr val="F26B2C">
              <a:alpha val="1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0240" y="2240280"/>
            <a:ext cx="374904" cy="374904"/>
          </a:xfrm>
          <a:prstGeom prst="rect">
            <a:avLst/>
          </a:prstGeom>
          <a:solidFill>
            <a:srgbClr val="F26B2C">
              <a:alpha val="1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31720" y="2240280"/>
            <a:ext cx="374904" cy="374904"/>
          </a:xfrm>
          <a:prstGeom prst="rect">
            <a:avLst/>
          </a:prstGeom>
          <a:solidFill>
            <a:srgbClr val="F26B2C">
              <a:alpha val="1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0" y="2240280"/>
            <a:ext cx="374904" cy="374904"/>
          </a:xfrm>
          <a:prstGeom prst="rect">
            <a:avLst/>
          </a:prstGeom>
          <a:solidFill>
            <a:srgbClr val="F26B2C">
              <a:alpha val="1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54680" y="2240280"/>
            <a:ext cx="374904" cy="374904"/>
          </a:xfrm>
          <a:prstGeom prst="rect">
            <a:avLst/>
          </a:prstGeom>
          <a:solidFill>
            <a:srgbClr val="F26B2C">
              <a:alpha val="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66160" y="2240280"/>
            <a:ext cx="374904" cy="374904"/>
          </a:xfrm>
          <a:prstGeom prst="rect">
            <a:avLst/>
          </a:prstGeom>
          <a:solidFill>
            <a:srgbClr val="F26B2C">
              <a:alpha val="1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77640" y="2240280"/>
            <a:ext cx="374904" cy="374904"/>
          </a:xfrm>
          <a:prstGeom prst="rect">
            <a:avLst/>
          </a:prstGeom>
          <a:solidFill>
            <a:srgbClr val="F26B2C">
              <a:alpha val="1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0" y="2240280"/>
            <a:ext cx="374904" cy="374904"/>
          </a:xfrm>
          <a:prstGeom prst="rect">
            <a:avLst/>
          </a:prstGeom>
          <a:solidFill>
            <a:srgbClr val="F26B2C">
              <a:alpha val="2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2240280"/>
            <a:ext cx="374904" cy="374904"/>
          </a:xfrm>
          <a:prstGeom prst="rect">
            <a:avLst/>
          </a:prstGeom>
          <a:solidFill>
            <a:srgbClr val="F26B2C">
              <a:alpha val="3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12080" y="2240280"/>
            <a:ext cx="374904" cy="374904"/>
          </a:xfrm>
          <a:prstGeom prst="rect">
            <a:avLst/>
          </a:prstGeom>
          <a:solidFill>
            <a:srgbClr val="F26B2C">
              <a:alpha val="4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23560" y="2240280"/>
            <a:ext cx="374904" cy="374904"/>
          </a:xfrm>
          <a:prstGeom prst="rect">
            <a:avLst/>
          </a:prstGeom>
          <a:solidFill>
            <a:srgbClr val="F26B2C">
              <a:alpha val="4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0" y="2240280"/>
            <a:ext cx="374904" cy="374904"/>
          </a:xfrm>
          <a:prstGeom prst="rect">
            <a:avLst/>
          </a:prstGeom>
          <a:solidFill>
            <a:srgbClr val="F26B2C">
              <a:alpha val="4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46520" y="2240280"/>
            <a:ext cx="374904" cy="374904"/>
          </a:xfrm>
          <a:prstGeom prst="rect">
            <a:avLst/>
          </a:prstGeom>
          <a:solidFill>
            <a:srgbClr val="F26B2C">
              <a:alpha val="44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2240280"/>
            <a:ext cx="374904" cy="374904"/>
          </a:xfrm>
          <a:prstGeom prst="rect">
            <a:avLst/>
          </a:prstGeom>
          <a:solidFill>
            <a:srgbClr val="F26B2C">
              <a:alpha val="4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69480" y="2240280"/>
            <a:ext cx="374904" cy="374904"/>
          </a:xfrm>
          <a:prstGeom prst="rect">
            <a:avLst/>
          </a:prstGeom>
          <a:solidFill>
            <a:srgbClr val="F26B2C">
              <a:alpha val="4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80960" y="2240280"/>
            <a:ext cx="374904" cy="374904"/>
          </a:xfrm>
          <a:prstGeom prst="rect">
            <a:avLst/>
          </a:prstGeom>
          <a:solidFill>
            <a:srgbClr val="F26B2C">
              <a:alpha val="4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92440" y="2240280"/>
            <a:ext cx="374904" cy="374904"/>
          </a:xfrm>
          <a:prstGeom prst="rect">
            <a:avLst/>
          </a:prstGeom>
          <a:solidFill>
            <a:srgbClr val="F26B2C">
              <a:alpha val="5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03920" y="2240280"/>
            <a:ext cx="374904" cy="374904"/>
          </a:xfrm>
          <a:prstGeom prst="rect">
            <a:avLst/>
          </a:prstGeom>
          <a:solidFill>
            <a:srgbClr val="F26B2C">
              <a:alpha val="5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15400" y="2240280"/>
            <a:ext cx="374904" cy="374904"/>
          </a:xfrm>
          <a:prstGeom prst="rect">
            <a:avLst/>
          </a:prstGeom>
          <a:solidFill>
            <a:srgbClr val="F26B2C">
              <a:alpha val="54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26880" y="2240280"/>
            <a:ext cx="374904" cy="374904"/>
          </a:xfrm>
          <a:prstGeom prst="rect">
            <a:avLst/>
          </a:prstGeom>
          <a:solidFill>
            <a:srgbClr val="F26B2C">
              <a:alpha val="5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38360" y="2240280"/>
            <a:ext cx="374904" cy="374904"/>
          </a:xfrm>
          <a:prstGeom prst="rect">
            <a:avLst/>
          </a:prstGeom>
          <a:solidFill>
            <a:srgbClr val="F26B2C">
              <a:alpha val="4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149840" y="2240280"/>
            <a:ext cx="374904" cy="374904"/>
          </a:xfrm>
          <a:prstGeom prst="rect">
            <a:avLst/>
          </a:prstGeom>
          <a:solidFill>
            <a:srgbClr val="F26B2C">
              <a:alpha val="3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61320" y="2240280"/>
            <a:ext cx="374904" cy="374904"/>
          </a:xfrm>
          <a:prstGeom prst="rect">
            <a:avLst/>
          </a:prstGeom>
          <a:solidFill>
            <a:srgbClr val="F26B2C">
              <a:alpha val="2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097280" y="2651760"/>
            <a:ext cx="374904" cy="374904"/>
          </a:xfrm>
          <a:prstGeom prst="rect">
            <a:avLst/>
          </a:prstGeom>
          <a:solidFill>
            <a:srgbClr val="F26B2C">
              <a:alpha val="2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508760" y="2651760"/>
            <a:ext cx="374904" cy="374904"/>
          </a:xfrm>
          <a:prstGeom prst="rect">
            <a:avLst/>
          </a:prstGeom>
          <a:solidFill>
            <a:srgbClr val="F26B2C">
              <a:alpha val="1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920240" y="2651760"/>
            <a:ext cx="374904" cy="374904"/>
          </a:xfrm>
          <a:prstGeom prst="rect">
            <a:avLst/>
          </a:prstGeom>
          <a:solidFill>
            <a:srgbClr val="F26B2C">
              <a:alpha val="1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31720" y="2651760"/>
            <a:ext cx="374904" cy="374904"/>
          </a:xfrm>
          <a:prstGeom prst="rect">
            <a:avLst/>
          </a:prstGeom>
          <a:solidFill>
            <a:srgbClr val="F26B2C">
              <a:alpha val="1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0" y="2651760"/>
            <a:ext cx="374904" cy="374904"/>
          </a:xfrm>
          <a:prstGeom prst="rect">
            <a:avLst/>
          </a:prstGeom>
          <a:solidFill>
            <a:srgbClr val="F26B2C">
              <a:alpha val="1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54680" y="2651760"/>
            <a:ext cx="374904" cy="374904"/>
          </a:xfrm>
          <a:prstGeom prst="rect">
            <a:avLst/>
          </a:prstGeom>
          <a:solidFill>
            <a:srgbClr val="F26B2C">
              <a:alpha val="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66160" y="2651760"/>
            <a:ext cx="374904" cy="374904"/>
          </a:xfrm>
          <a:prstGeom prst="rect">
            <a:avLst/>
          </a:prstGeom>
          <a:solidFill>
            <a:srgbClr val="F26B2C">
              <a:alpha val="1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977640" y="2651760"/>
            <a:ext cx="374904" cy="374904"/>
          </a:xfrm>
          <a:prstGeom prst="rect">
            <a:avLst/>
          </a:prstGeom>
          <a:solidFill>
            <a:srgbClr val="F26B2C">
              <a:alpha val="1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389120" y="2651760"/>
            <a:ext cx="374904" cy="374904"/>
          </a:xfrm>
          <a:prstGeom prst="rect">
            <a:avLst/>
          </a:prstGeom>
          <a:solidFill>
            <a:srgbClr val="F26B2C">
              <a:alpha val="2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00600" y="2651760"/>
            <a:ext cx="374904" cy="374904"/>
          </a:xfrm>
          <a:prstGeom prst="rect">
            <a:avLst/>
          </a:prstGeom>
          <a:solidFill>
            <a:srgbClr val="F26B2C">
              <a:alpha val="3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12080" y="2651760"/>
            <a:ext cx="374904" cy="374904"/>
          </a:xfrm>
          <a:prstGeom prst="rect">
            <a:avLst/>
          </a:prstGeom>
          <a:solidFill>
            <a:srgbClr val="F26B2C">
              <a:alpha val="4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623560" y="2651760"/>
            <a:ext cx="374904" cy="374904"/>
          </a:xfrm>
          <a:prstGeom prst="rect">
            <a:avLst/>
          </a:prstGeom>
          <a:solidFill>
            <a:srgbClr val="F26B2C">
              <a:alpha val="4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35040" y="2651760"/>
            <a:ext cx="374904" cy="374904"/>
          </a:xfrm>
          <a:prstGeom prst="rect">
            <a:avLst/>
          </a:prstGeom>
          <a:solidFill>
            <a:srgbClr val="F26B2C">
              <a:alpha val="4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46520" y="2651760"/>
            <a:ext cx="374904" cy="374904"/>
          </a:xfrm>
          <a:prstGeom prst="rect">
            <a:avLst/>
          </a:prstGeom>
          <a:solidFill>
            <a:srgbClr val="F26B2C">
              <a:alpha val="4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858000" y="2651760"/>
            <a:ext cx="374904" cy="374904"/>
          </a:xfrm>
          <a:prstGeom prst="rect">
            <a:avLst/>
          </a:prstGeom>
          <a:solidFill>
            <a:srgbClr val="F26B2C">
              <a:alpha val="4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269480" y="2651760"/>
            <a:ext cx="374904" cy="374904"/>
          </a:xfrm>
          <a:prstGeom prst="rect">
            <a:avLst/>
          </a:prstGeom>
          <a:solidFill>
            <a:srgbClr val="F26B2C">
              <a:alpha val="4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680960" y="2651760"/>
            <a:ext cx="374904" cy="374904"/>
          </a:xfrm>
          <a:prstGeom prst="rect">
            <a:avLst/>
          </a:prstGeom>
          <a:solidFill>
            <a:srgbClr val="F26B2C">
              <a:alpha val="5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92440" y="2651760"/>
            <a:ext cx="374904" cy="374904"/>
          </a:xfrm>
          <a:prstGeom prst="rect">
            <a:avLst/>
          </a:prstGeom>
          <a:solidFill>
            <a:srgbClr val="F26B2C">
              <a:alpha val="5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03920" y="2651760"/>
            <a:ext cx="374904" cy="374904"/>
          </a:xfrm>
          <a:prstGeom prst="rect">
            <a:avLst/>
          </a:prstGeom>
          <a:solidFill>
            <a:srgbClr val="F26B2C">
              <a:alpha val="6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15400" y="2651760"/>
            <a:ext cx="374904" cy="374904"/>
          </a:xfrm>
          <a:prstGeom prst="rect">
            <a:avLst/>
          </a:prstGeom>
          <a:solidFill>
            <a:srgbClr val="F26B2C">
              <a:alpha val="5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26880" y="2651760"/>
            <a:ext cx="374904" cy="374904"/>
          </a:xfrm>
          <a:prstGeom prst="rect">
            <a:avLst/>
          </a:prstGeom>
          <a:solidFill>
            <a:srgbClr val="F26B2C">
              <a:alpha val="54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38360" y="2651760"/>
            <a:ext cx="374904" cy="374904"/>
          </a:xfrm>
          <a:prstGeom prst="rect">
            <a:avLst/>
          </a:prstGeom>
          <a:solidFill>
            <a:srgbClr val="F26B2C">
              <a:alpha val="4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149840" y="2651760"/>
            <a:ext cx="374904" cy="374904"/>
          </a:xfrm>
          <a:prstGeom prst="rect">
            <a:avLst/>
          </a:prstGeom>
          <a:solidFill>
            <a:srgbClr val="F26B2C">
              <a:alpha val="3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561320" y="2651760"/>
            <a:ext cx="374904" cy="374904"/>
          </a:xfrm>
          <a:prstGeom prst="rect">
            <a:avLst/>
          </a:prstGeom>
          <a:solidFill>
            <a:srgbClr val="F26B2C">
              <a:alpha val="2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864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1097280" y="3063240"/>
            <a:ext cx="374904" cy="374904"/>
          </a:xfrm>
          <a:prstGeom prst="rect">
            <a:avLst/>
          </a:prstGeom>
          <a:solidFill>
            <a:srgbClr val="F26B2C">
              <a:alpha val="2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508760" y="3063240"/>
            <a:ext cx="374904" cy="374904"/>
          </a:xfrm>
          <a:prstGeom prst="rect">
            <a:avLst/>
          </a:prstGeom>
          <a:solidFill>
            <a:srgbClr val="F26B2C">
              <a:alpha val="1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063240"/>
            <a:ext cx="374904" cy="374904"/>
          </a:xfrm>
          <a:prstGeom prst="rect">
            <a:avLst/>
          </a:prstGeom>
          <a:solidFill>
            <a:srgbClr val="F26B2C">
              <a:alpha val="1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331720" y="3063240"/>
            <a:ext cx="374904" cy="374904"/>
          </a:xfrm>
          <a:prstGeom prst="rect">
            <a:avLst/>
          </a:prstGeom>
          <a:solidFill>
            <a:srgbClr val="F26B2C">
              <a:alpha val="1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0" y="3063240"/>
            <a:ext cx="374904" cy="374904"/>
          </a:xfrm>
          <a:prstGeom prst="rect">
            <a:avLst/>
          </a:prstGeom>
          <a:solidFill>
            <a:srgbClr val="F26B2C">
              <a:alpha val="1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54680" y="3063240"/>
            <a:ext cx="374904" cy="374904"/>
          </a:xfrm>
          <a:prstGeom prst="rect">
            <a:avLst/>
          </a:prstGeom>
          <a:solidFill>
            <a:srgbClr val="F26B2C">
              <a:alpha val="1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566160" y="3063240"/>
            <a:ext cx="374904" cy="374904"/>
          </a:xfrm>
          <a:prstGeom prst="rect">
            <a:avLst/>
          </a:prstGeom>
          <a:solidFill>
            <a:srgbClr val="F26B2C">
              <a:alpha val="1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77640" y="3063240"/>
            <a:ext cx="374904" cy="374904"/>
          </a:xfrm>
          <a:prstGeom prst="rect">
            <a:avLst/>
          </a:prstGeom>
          <a:solidFill>
            <a:srgbClr val="F26B2C">
              <a:alpha val="1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389120" y="3063240"/>
            <a:ext cx="374904" cy="374904"/>
          </a:xfrm>
          <a:prstGeom prst="rect">
            <a:avLst/>
          </a:prstGeom>
          <a:solidFill>
            <a:srgbClr val="F26B2C">
              <a:alpha val="3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800600" y="3063240"/>
            <a:ext cx="374904" cy="374904"/>
          </a:xfrm>
          <a:prstGeom prst="rect">
            <a:avLst/>
          </a:prstGeom>
          <a:solidFill>
            <a:srgbClr val="F26B2C">
              <a:alpha val="4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212080" y="3063240"/>
            <a:ext cx="374904" cy="374904"/>
          </a:xfrm>
          <a:prstGeom prst="rect">
            <a:avLst/>
          </a:prstGeom>
          <a:solidFill>
            <a:srgbClr val="F26B2C">
              <a:alpha val="4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623560" y="3063240"/>
            <a:ext cx="374904" cy="374904"/>
          </a:xfrm>
          <a:prstGeom prst="rect">
            <a:avLst/>
          </a:prstGeom>
          <a:solidFill>
            <a:srgbClr val="F26B2C">
              <a:alpha val="4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035040" y="3063240"/>
            <a:ext cx="374904" cy="374904"/>
          </a:xfrm>
          <a:prstGeom prst="rect">
            <a:avLst/>
          </a:prstGeom>
          <a:solidFill>
            <a:srgbClr val="F26B2C">
              <a:alpha val="5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446520" y="3063240"/>
            <a:ext cx="374904" cy="374904"/>
          </a:xfrm>
          <a:prstGeom prst="rect">
            <a:avLst/>
          </a:prstGeom>
          <a:solidFill>
            <a:srgbClr val="F26B2C">
              <a:alpha val="4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858000" y="3063240"/>
            <a:ext cx="374904" cy="374904"/>
          </a:xfrm>
          <a:prstGeom prst="rect">
            <a:avLst/>
          </a:prstGeom>
          <a:solidFill>
            <a:srgbClr val="F26B2C">
              <a:alpha val="5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269480" y="3063240"/>
            <a:ext cx="374904" cy="374904"/>
          </a:xfrm>
          <a:prstGeom prst="rect">
            <a:avLst/>
          </a:prstGeom>
          <a:solidFill>
            <a:srgbClr val="F26B2C">
              <a:alpha val="5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680960" y="3063240"/>
            <a:ext cx="374904" cy="374904"/>
          </a:xfrm>
          <a:prstGeom prst="rect">
            <a:avLst/>
          </a:prstGeom>
          <a:solidFill>
            <a:srgbClr val="F26B2C">
              <a:alpha val="5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92440" y="3063240"/>
            <a:ext cx="374904" cy="374904"/>
          </a:xfrm>
          <a:prstGeom prst="rect">
            <a:avLst/>
          </a:prstGeom>
          <a:solidFill>
            <a:srgbClr val="F26B2C">
              <a:alpha val="6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503920" y="3063240"/>
            <a:ext cx="374904" cy="374904"/>
          </a:xfrm>
          <a:prstGeom prst="rect">
            <a:avLst/>
          </a:prstGeom>
          <a:solidFill>
            <a:srgbClr val="F26B2C">
              <a:alpha val="6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15400" y="3063240"/>
            <a:ext cx="374904" cy="374904"/>
          </a:xfrm>
          <a:prstGeom prst="rect">
            <a:avLst/>
          </a:prstGeom>
          <a:solidFill>
            <a:srgbClr val="F26B2C">
              <a:alpha val="6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326880" y="3063240"/>
            <a:ext cx="374904" cy="374904"/>
          </a:xfrm>
          <a:prstGeom prst="rect">
            <a:avLst/>
          </a:prstGeom>
          <a:solidFill>
            <a:srgbClr val="F26B2C">
              <a:alpha val="5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738360" y="3063240"/>
            <a:ext cx="374904" cy="374904"/>
          </a:xfrm>
          <a:prstGeom prst="rect">
            <a:avLst/>
          </a:prstGeom>
          <a:solidFill>
            <a:srgbClr val="F26B2C">
              <a:alpha val="5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149840" y="3063240"/>
            <a:ext cx="374904" cy="374904"/>
          </a:xfrm>
          <a:prstGeom prst="rect">
            <a:avLst/>
          </a:prstGeom>
          <a:solidFill>
            <a:srgbClr val="F26B2C">
              <a:alpha val="3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561320" y="3063240"/>
            <a:ext cx="374904" cy="374904"/>
          </a:xfrm>
          <a:prstGeom prst="rect">
            <a:avLst/>
          </a:prstGeom>
          <a:solidFill>
            <a:srgbClr val="F26B2C">
              <a:alpha val="2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48640" y="3520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1097280" y="3474720"/>
            <a:ext cx="374904" cy="374904"/>
          </a:xfrm>
          <a:prstGeom prst="rect">
            <a:avLst/>
          </a:prstGeom>
          <a:solidFill>
            <a:srgbClr val="F26B2C">
              <a:alpha val="2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508760" y="3474720"/>
            <a:ext cx="374904" cy="374904"/>
          </a:xfrm>
          <a:prstGeom prst="rect">
            <a:avLst/>
          </a:prstGeom>
          <a:solidFill>
            <a:srgbClr val="F26B2C">
              <a:alpha val="2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920240" y="3474720"/>
            <a:ext cx="374904" cy="374904"/>
          </a:xfrm>
          <a:prstGeom prst="rect">
            <a:avLst/>
          </a:prstGeom>
          <a:solidFill>
            <a:srgbClr val="F26B2C">
              <a:alpha val="1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331720" y="3474720"/>
            <a:ext cx="374904" cy="374904"/>
          </a:xfrm>
          <a:prstGeom prst="rect">
            <a:avLst/>
          </a:prstGeom>
          <a:solidFill>
            <a:srgbClr val="F26B2C">
              <a:alpha val="14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43200" y="3474720"/>
            <a:ext cx="374904" cy="374904"/>
          </a:xfrm>
          <a:prstGeom prst="rect">
            <a:avLst/>
          </a:prstGeom>
          <a:solidFill>
            <a:srgbClr val="F26B2C">
              <a:alpha val="1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154680" y="3474720"/>
            <a:ext cx="374904" cy="374904"/>
          </a:xfrm>
          <a:prstGeom prst="rect">
            <a:avLst/>
          </a:prstGeom>
          <a:solidFill>
            <a:srgbClr val="F26B2C">
              <a:alpha val="1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566160" y="3474720"/>
            <a:ext cx="374904" cy="374904"/>
          </a:xfrm>
          <a:prstGeom prst="rect">
            <a:avLst/>
          </a:prstGeom>
          <a:solidFill>
            <a:srgbClr val="F26B2C">
              <a:alpha val="1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77640" y="3474720"/>
            <a:ext cx="374904" cy="374904"/>
          </a:xfrm>
          <a:prstGeom prst="rect">
            <a:avLst/>
          </a:prstGeom>
          <a:solidFill>
            <a:srgbClr val="F26B2C">
              <a:alpha val="2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89120" y="3474720"/>
            <a:ext cx="374904" cy="374904"/>
          </a:xfrm>
          <a:prstGeom prst="rect">
            <a:avLst/>
          </a:prstGeom>
          <a:solidFill>
            <a:srgbClr val="F26B2C">
              <a:alpha val="4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00600" y="3474720"/>
            <a:ext cx="374904" cy="374904"/>
          </a:xfrm>
          <a:prstGeom prst="rect">
            <a:avLst/>
          </a:prstGeom>
          <a:solidFill>
            <a:srgbClr val="F26B2C">
              <a:alpha val="5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12080" y="3474720"/>
            <a:ext cx="374904" cy="374904"/>
          </a:xfrm>
          <a:prstGeom prst="rect">
            <a:avLst/>
          </a:prstGeom>
          <a:solidFill>
            <a:srgbClr val="F26B2C">
              <a:alpha val="6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623560" y="3474720"/>
            <a:ext cx="374904" cy="374904"/>
          </a:xfrm>
          <a:prstGeom prst="rect">
            <a:avLst/>
          </a:prstGeom>
          <a:solidFill>
            <a:srgbClr val="F26B2C">
              <a:alpha val="6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035040" y="3474720"/>
            <a:ext cx="374904" cy="374904"/>
          </a:xfrm>
          <a:prstGeom prst="rect">
            <a:avLst/>
          </a:prstGeom>
          <a:solidFill>
            <a:srgbClr val="F26B2C">
              <a:alpha val="6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446520" y="3474720"/>
            <a:ext cx="374904" cy="374904"/>
          </a:xfrm>
          <a:prstGeom prst="rect">
            <a:avLst/>
          </a:prstGeom>
          <a:solidFill>
            <a:srgbClr val="F26B2C">
              <a:alpha val="6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858000" y="3474720"/>
            <a:ext cx="374904" cy="374904"/>
          </a:xfrm>
          <a:prstGeom prst="rect">
            <a:avLst/>
          </a:prstGeom>
          <a:solidFill>
            <a:srgbClr val="F26B2C">
              <a:alpha val="7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269480" y="3474720"/>
            <a:ext cx="374904" cy="374904"/>
          </a:xfrm>
          <a:prstGeom prst="rect">
            <a:avLst/>
          </a:prstGeom>
          <a:solidFill>
            <a:srgbClr val="F26B2C">
              <a:alpha val="7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680960" y="3474720"/>
            <a:ext cx="374904" cy="374904"/>
          </a:xfrm>
          <a:prstGeom prst="rect">
            <a:avLst/>
          </a:prstGeom>
          <a:solidFill>
            <a:srgbClr val="F26B2C">
              <a:alpha val="7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92440" y="3474720"/>
            <a:ext cx="374904" cy="374904"/>
          </a:xfrm>
          <a:prstGeom prst="rect">
            <a:avLst/>
          </a:prstGeom>
          <a:solidFill>
            <a:srgbClr val="F26B2C">
              <a:alpha val="8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503920" y="3474720"/>
            <a:ext cx="374904" cy="374904"/>
          </a:xfrm>
          <a:prstGeom prst="rect">
            <a:avLst/>
          </a:prstGeom>
          <a:solidFill>
            <a:srgbClr val="F26B2C">
              <a:alpha val="8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915400" y="3474720"/>
            <a:ext cx="374904" cy="374904"/>
          </a:xfrm>
          <a:prstGeom prst="rect">
            <a:avLst/>
          </a:prstGeom>
          <a:solidFill>
            <a:srgbClr val="F26B2C">
              <a:alpha val="8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326880" y="3474720"/>
            <a:ext cx="374904" cy="374904"/>
          </a:xfrm>
          <a:prstGeom prst="rect">
            <a:avLst/>
          </a:prstGeom>
          <a:solidFill>
            <a:srgbClr val="F26B2C">
              <a:alpha val="7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738360" y="3474720"/>
            <a:ext cx="374904" cy="374904"/>
          </a:xfrm>
          <a:prstGeom prst="rect">
            <a:avLst/>
          </a:prstGeom>
          <a:solidFill>
            <a:srgbClr val="F26B2C">
              <a:alpha val="7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149840" y="3474720"/>
            <a:ext cx="374904" cy="374904"/>
          </a:xfrm>
          <a:prstGeom prst="rect">
            <a:avLst/>
          </a:prstGeom>
          <a:solidFill>
            <a:srgbClr val="F26B2C">
              <a:alpha val="5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561320" y="3474720"/>
            <a:ext cx="374904" cy="374904"/>
          </a:xfrm>
          <a:prstGeom prst="rect">
            <a:avLst/>
          </a:prstGeom>
          <a:solidFill>
            <a:srgbClr val="F26B2C">
              <a:alpha val="2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48640" y="3931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1097280" y="3886200"/>
            <a:ext cx="374904" cy="374904"/>
          </a:xfrm>
          <a:prstGeom prst="rect">
            <a:avLst/>
          </a:prstGeom>
          <a:solidFill>
            <a:srgbClr val="F26B2C">
              <a:alpha val="3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508760" y="3886200"/>
            <a:ext cx="374904" cy="374904"/>
          </a:xfrm>
          <a:prstGeom prst="rect">
            <a:avLst/>
          </a:prstGeom>
          <a:solidFill>
            <a:srgbClr val="F26B2C">
              <a:alpha val="2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920240" y="3886200"/>
            <a:ext cx="374904" cy="374904"/>
          </a:xfrm>
          <a:prstGeom prst="rect">
            <a:avLst/>
          </a:prstGeom>
          <a:solidFill>
            <a:srgbClr val="F26B2C">
              <a:alpha val="1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331720" y="3886200"/>
            <a:ext cx="374904" cy="374904"/>
          </a:xfrm>
          <a:prstGeom prst="rect">
            <a:avLst/>
          </a:prstGeom>
          <a:solidFill>
            <a:srgbClr val="F26B2C">
              <a:alpha val="1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43200" y="3886200"/>
            <a:ext cx="374904" cy="374904"/>
          </a:xfrm>
          <a:prstGeom prst="rect">
            <a:avLst/>
          </a:prstGeom>
          <a:solidFill>
            <a:srgbClr val="F26B2C">
              <a:alpha val="14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154680" y="3886200"/>
            <a:ext cx="374904" cy="374904"/>
          </a:xfrm>
          <a:prstGeom prst="rect">
            <a:avLst/>
          </a:prstGeom>
          <a:solidFill>
            <a:srgbClr val="F26B2C">
              <a:alpha val="1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66160" y="3886200"/>
            <a:ext cx="374904" cy="374904"/>
          </a:xfrm>
          <a:prstGeom prst="rect">
            <a:avLst/>
          </a:prstGeom>
          <a:solidFill>
            <a:srgbClr val="F26B2C">
              <a:alpha val="1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977640" y="3886200"/>
            <a:ext cx="374904" cy="374904"/>
          </a:xfrm>
          <a:prstGeom prst="rect">
            <a:avLst/>
          </a:prstGeom>
          <a:solidFill>
            <a:srgbClr val="F26B2C">
              <a:alpha val="2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389120" y="3886200"/>
            <a:ext cx="374904" cy="374904"/>
          </a:xfrm>
          <a:prstGeom prst="rect">
            <a:avLst/>
          </a:prstGeom>
          <a:solidFill>
            <a:srgbClr val="F26B2C">
              <a:alpha val="4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800600" y="3886200"/>
            <a:ext cx="374904" cy="374904"/>
          </a:xfrm>
          <a:prstGeom prst="rect">
            <a:avLst/>
          </a:prstGeom>
          <a:solidFill>
            <a:srgbClr val="F26B2C">
              <a:alpha val="6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12080" y="3886200"/>
            <a:ext cx="374904" cy="374904"/>
          </a:xfrm>
          <a:prstGeom prst="rect">
            <a:avLst/>
          </a:prstGeom>
          <a:solidFill>
            <a:srgbClr val="F26B2C">
              <a:alpha val="6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623560" y="3886200"/>
            <a:ext cx="374904" cy="374904"/>
          </a:xfrm>
          <a:prstGeom prst="rect">
            <a:avLst/>
          </a:prstGeom>
          <a:solidFill>
            <a:srgbClr val="F26B2C">
              <a:alpha val="7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35040" y="3886200"/>
            <a:ext cx="374904" cy="374904"/>
          </a:xfrm>
          <a:prstGeom prst="rect">
            <a:avLst/>
          </a:prstGeom>
          <a:solidFill>
            <a:srgbClr val="F26B2C">
              <a:alpha val="7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446520" y="3886200"/>
            <a:ext cx="374904" cy="374904"/>
          </a:xfrm>
          <a:prstGeom prst="rect">
            <a:avLst/>
          </a:prstGeom>
          <a:solidFill>
            <a:srgbClr val="F26B2C">
              <a:alpha val="7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858000" y="3886200"/>
            <a:ext cx="374904" cy="374904"/>
          </a:xfrm>
          <a:prstGeom prst="rect">
            <a:avLst/>
          </a:prstGeom>
          <a:solidFill>
            <a:srgbClr val="F26B2C">
              <a:alpha val="7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269480" y="3886200"/>
            <a:ext cx="374904" cy="374904"/>
          </a:xfrm>
          <a:prstGeom prst="rect">
            <a:avLst/>
          </a:prstGeom>
          <a:solidFill>
            <a:srgbClr val="F26B2C">
              <a:alpha val="8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680960" y="3886200"/>
            <a:ext cx="374904" cy="374904"/>
          </a:xfrm>
          <a:prstGeom prst="rect">
            <a:avLst/>
          </a:prstGeom>
          <a:solidFill>
            <a:srgbClr val="F26B2C">
              <a:alpha val="8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092440" y="3886200"/>
            <a:ext cx="374904" cy="374904"/>
          </a:xfrm>
          <a:prstGeom prst="rect">
            <a:avLst/>
          </a:prstGeom>
          <a:solidFill>
            <a:srgbClr val="F26B2C">
              <a:alpha val="9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503920" y="3886200"/>
            <a:ext cx="374904" cy="374904"/>
          </a:xfrm>
          <a:prstGeom prst="rect">
            <a:avLst/>
          </a:prstGeom>
          <a:solidFill>
            <a:srgbClr val="F26B2C">
              <a:alpha val="9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915400" y="3886200"/>
            <a:ext cx="374904" cy="374904"/>
          </a:xfrm>
          <a:prstGeom prst="rect">
            <a:avLst/>
          </a:prstGeom>
          <a:solidFill>
            <a:srgbClr val="F26B2C">
              <a:alpha val="9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326880" y="3886200"/>
            <a:ext cx="374904" cy="374904"/>
          </a:xfrm>
          <a:prstGeom prst="rect">
            <a:avLst/>
          </a:prstGeom>
          <a:solidFill>
            <a:srgbClr val="F26B2C">
              <a:alpha val="8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738360" y="3886200"/>
            <a:ext cx="374904" cy="374904"/>
          </a:xfrm>
          <a:prstGeom prst="rect">
            <a:avLst/>
          </a:prstGeom>
          <a:solidFill>
            <a:srgbClr val="F26B2C">
              <a:alpha val="7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149840" y="3886200"/>
            <a:ext cx="374904" cy="374904"/>
          </a:xfrm>
          <a:prstGeom prst="rect">
            <a:avLst/>
          </a:prstGeom>
          <a:solidFill>
            <a:srgbClr val="F26B2C">
              <a:alpha val="5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561320" y="3886200"/>
            <a:ext cx="374904" cy="374904"/>
          </a:xfrm>
          <a:prstGeom prst="rect">
            <a:avLst/>
          </a:prstGeom>
          <a:solidFill>
            <a:srgbClr val="F26B2C">
              <a:alpha val="3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48640" y="4343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1097280" y="4297680"/>
            <a:ext cx="374904" cy="374904"/>
          </a:xfrm>
          <a:prstGeom prst="rect">
            <a:avLst/>
          </a:prstGeom>
          <a:solidFill>
            <a:srgbClr val="F26B2C">
              <a:alpha val="24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508760" y="4297680"/>
            <a:ext cx="374904" cy="374904"/>
          </a:xfrm>
          <a:prstGeom prst="rect">
            <a:avLst/>
          </a:prstGeom>
          <a:solidFill>
            <a:srgbClr val="F26B2C">
              <a:alpha val="1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920240" y="4297680"/>
            <a:ext cx="374904" cy="374904"/>
          </a:xfrm>
          <a:prstGeom prst="rect">
            <a:avLst/>
          </a:prstGeom>
          <a:solidFill>
            <a:srgbClr val="F26B2C">
              <a:alpha val="1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331720" y="4297680"/>
            <a:ext cx="374904" cy="374904"/>
          </a:xfrm>
          <a:prstGeom prst="rect">
            <a:avLst/>
          </a:prstGeom>
          <a:solidFill>
            <a:srgbClr val="F26B2C">
              <a:alpha val="1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743200" y="4297680"/>
            <a:ext cx="374904" cy="374904"/>
          </a:xfrm>
          <a:prstGeom prst="rect">
            <a:avLst/>
          </a:prstGeom>
          <a:solidFill>
            <a:srgbClr val="F26B2C">
              <a:alpha val="1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154680" y="4297680"/>
            <a:ext cx="374904" cy="374904"/>
          </a:xfrm>
          <a:prstGeom prst="rect">
            <a:avLst/>
          </a:prstGeom>
          <a:solidFill>
            <a:srgbClr val="F26B2C">
              <a:alpha val="1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566160" y="4297680"/>
            <a:ext cx="374904" cy="374904"/>
          </a:xfrm>
          <a:prstGeom prst="rect">
            <a:avLst/>
          </a:prstGeom>
          <a:solidFill>
            <a:srgbClr val="F26B2C">
              <a:alpha val="14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977640" y="4297680"/>
            <a:ext cx="374904" cy="374904"/>
          </a:xfrm>
          <a:prstGeom prst="rect">
            <a:avLst/>
          </a:prstGeom>
          <a:solidFill>
            <a:srgbClr val="F26B2C">
              <a:alpha val="2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389120" y="4297680"/>
            <a:ext cx="374904" cy="374904"/>
          </a:xfrm>
          <a:prstGeom prst="rect">
            <a:avLst/>
          </a:prstGeom>
          <a:solidFill>
            <a:srgbClr val="F26B2C">
              <a:alpha val="3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800600" y="4297680"/>
            <a:ext cx="374904" cy="374904"/>
          </a:xfrm>
          <a:prstGeom prst="rect">
            <a:avLst/>
          </a:prstGeom>
          <a:solidFill>
            <a:srgbClr val="F26B2C">
              <a:alpha val="4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212080" y="4297680"/>
            <a:ext cx="374904" cy="374904"/>
          </a:xfrm>
          <a:prstGeom prst="rect">
            <a:avLst/>
          </a:prstGeom>
          <a:solidFill>
            <a:srgbClr val="F26B2C">
              <a:alpha val="54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623560" y="4297680"/>
            <a:ext cx="374904" cy="374904"/>
          </a:xfrm>
          <a:prstGeom prst="rect">
            <a:avLst/>
          </a:prstGeom>
          <a:solidFill>
            <a:srgbClr val="F26B2C">
              <a:alpha val="5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035040" y="4297680"/>
            <a:ext cx="374904" cy="374904"/>
          </a:xfrm>
          <a:prstGeom prst="rect">
            <a:avLst/>
          </a:prstGeom>
          <a:solidFill>
            <a:srgbClr val="F26B2C">
              <a:alpha val="6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46520" y="4297680"/>
            <a:ext cx="374904" cy="374904"/>
          </a:xfrm>
          <a:prstGeom prst="rect">
            <a:avLst/>
          </a:prstGeom>
          <a:solidFill>
            <a:srgbClr val="F26B2C">
              <a:alpha val="5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858000" y="4297680"/>
            <a:ext cx="374904" cy="374904"/>
          </a:xfrm>
          <a:prstGeom prst="rect">
            <a:avLst/>
          </a:prstGeom>
          <a:solidFill>
            <a:srgbClr val="F26B2C">
              <a:alpha val="6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269480" y="4297680"/>
            <a:ext cx="374904" cy="374904"/>
          </a:xfrm>
          <a:prstGeom prst="rect">
            <a:avLst/>
          </a:prstGeom>
          <a:solidFill>
            <a:srgbClr val="F26B2C">
              <a:alpha val="6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680960" y="4297680"/>
            <a:ext cx="374904" cy="374904"/>
          </a:xfrm>
          <a:prstGeom prst="rect">
            <a:avLst/>
          </a:prstGeom>
          <a:solidFill>
            <a:srgbClr val="F26B2C">
              <a:alpha val="6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092440" y="4297680"/>
            <a:ext cx="374904" cy="374904"/>
          </a:xfrm>
          <a:prstGeom prst="rect">
            <a:avLst/>
          </a:prstGeom>
          <a:solidFill>
            <a:srgbClr val="F26B2C">
              <a:alpha val="7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503920" y="4297680"/>
            <a:ext cx="374904" cy="374904"/>
          </a:xfrm>
          <a:prstGeom prst="rect">
            <a:avLst/>
          </a:prstGeom>
          <a:solidFill>
            <a:srgbClr val="F26B2C">
              <a:alpha val="7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15400" y="4297680"/>
            <a:ext cx="374904" cy="374904"/>
          </a:xfrm>
          <a:prstGeom prst="rect">
            <a:avLst/>
          </a:prstGeom>
          <a:solidFill>
            <a:srgbClr val="F26B2C">
              <a:alpha val="7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326880" y="4297680"/>
            <a:ext cx="374904" cy="374904"/>
          </a:xfrm>
          <a:prstGeom prst="rect">
            <a:avLst/>
          </a:prstGeom>
          <a:solidFill>
            <a:srgbClr val="F26B2C">
              <a:alpha val="6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738360" y="4297680"/>
            <a:ext cx="374904" cy="374904"/>
          </a:xfrm>
          <a:prstGeom prst="rect">
            <a:avLst/>
          </a:prstGeom>
          <a:solidFill>
            <a:srgbClr val="F26B2C">
              <a:alpha val="6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149840" y="4297680"/>
            <a:ext cx="374904" cy="374904"/>
          </a:xfrm>
          <a:prstGeom prst="rect">
            <a:avLst/>
          </a:prstGeom>
          <a:solidFill>
            <a:srgbClr val="F26B2C">
              <a:alpha val="4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561320" y="4297680"/>
            <a:ext cx="374904" cy="374904"/>
          </a:xfrm>
          <a:prstGeom prst="rect">
            <a:avLst/>
          </a:prstGeom>
          <a:solidFill>
            <a:srgbClr val="F26B2C">
              <a:alpha val="2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7315200" y="6080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7772400" y="6080760"/>
            <a:ext cx="182880" cy="164592"/>
          </a:xfrm>
          <a:prstGeom prst="rect">
            <a:avLst/>
          </a:prstGeom>
          <a:solidFill>
            <a:srgbClr val="F26B2C">
              <a:alpha val="5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973568" y="6080760"/>
            <a:ext cx="182880" cy="164592"/>
          </a:xfrm>
          <a:prstGeom prst="rect">
            <a:avLst/>
          </a:prstGeom>
          <a:solidFill>
            <a:srgbClr val="F26B2C">
              <a:alpha val="14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174736" y="6080760"/>
            <a:ext cx="182880" cy="164592"/>
          </a:xfrm>
          <a:prstGeom prst="rect">
            <a:avLst/>
          </a:prstGeom>
          <a:solidFill>
            <a:srgbClr val="F26B2C">
              <a:alpha val="23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375904" y="6080760"/>
            <a:ext cx="182880" cy="164592"/>
          </a:xfrm>
          <a:prstGeom prst="rect">
            <a:avLst/>
          </a:prstGeom>
          <a:solidFill>
            <a:srgbClr val="F26B2C">
              <a:alpha val="32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577072" y="6080760"/>
            <a:ext cx="182880" cy="164592"/>
          </a:xfrm>
          <a:prstGeom prst="rect">
            <a:avLst/>
          </a:prstGeom>
          <a:solidFill>
            <a:srgbClr val="F26B2C">
              <a:alpha val="41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778240" y="6080760"/>
            <a:ext cx="182880" cy="164592"/>
          </a:xfrm>
          <a:prstGeom prst="rect">
            <a:avLst/>
          </a:prstGeom>
          <a:solidFill>
            <a:srgbClr val="F26B2C">
              <a:alpha val="50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979408" y="6080760"/>
            <a:ext cx="182880" cy="164592"/>
          </a:xfrm>
          <a:prstGeom prst="rect">
            <a:avLst/>
          </a:prstGeom>
          <a:solidFill>
            <a:srgbClr val="F26B2C">
              <a:alpha val="59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180576" y="6080760"/>
            <a:ext cx="182880" cy="164592"/>
          </a:xfrm>
          <a:prstGeom prst="rect">
            <a:avLst/>
          </a:prstGeom>
          <a:solidFill>
            <a:srgbClr val="F26B2C">
              <a:alpha val="68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381744" y="6080760"/>
            <a:ext cx="182880" cy="164592"/>
          </a:xfrm>
          <a:prstGeom prst="rect">
            <a:avLst/>
          </a:prstGeom>
          <a:solidFill>
            <a:srgbClr val="F26B2C">
              <a:alpha val="77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582912" y="6080760"/>
            <a:ext cx="182880" cy="164592"/>
          </a:xfrm>
          <a:prstGeom prst="rect">
            <a:avLst/>
          </a:prstGeom>
          <a:solidFill>
            <a:srgbClr val="F26B2C">
              <a:alpha val="86000"/>
            </a:srgbClr>
          </a:solidFill>
          <a:ln w="6350">
            <a:solidFill>
              <a:srgbClr val="0E1018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829800" y="6080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800" dirty="0"/>
          </a:p>
        </p:txBody>
      </p:sp>
      <p:sp>
        <p:nvSpPr>
          <p:cNvPr id="199" name="Text 197"/>
          <p:cNvSpPr/>
          <p:nvPr/>
        </p:nvSpPr>
        <p:spPr>
          <a:xfrm>
            <a:off x="548640" y="5486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&amp; Saturday evenings light up around live sports. Mondays before noon stay cold.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202" name="Text 20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DIAGNOSTIC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 vs. Trough.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023360"/>
          </a:xfrm>
          <a:prstGeom prst="roundRect">
            <a:avLst>
              <a:gd name="adj" fmla="val 4091"/>
            </a:avLst>
          </a:prstGeom>
          <a:solidFill>
            <a:srgbClr val="1F1A22"/>
          </a:solidFill>
          <a:ln w="12700">
            <a:solidFill>
              <a:srgbClr val="F26B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CAPITALIZED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FRIDAY / SATURDAY PEAK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4846320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5176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1,600+ sessions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950208"/>
            <a:ext cx="4846320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47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3447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sporting events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517136"/>
            <a:ext cx="4846320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142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Mindset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40142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Event-focused, adrenaline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084064"/>
            <a:ext cx="4846320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811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51760" y="45811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the weekend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5440680" cy="4023360"/>
          </a:xfrm>
          <a:prstGeom prst="roundRect">
            <a:avLst>
              <a:gd name="adj" fmla="val 4091"/>
            </a:avLst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148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MONDAY SLUMP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92240" y="3383280"/>
            <a:ext cx="4846320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Sub-1,000 sessions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3950208"/>
            <a:ext cx="4846320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447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3447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/ undefined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4517136"/>
            <a:ext cx="4846320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0142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Mindset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21040" y="40142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Routine-seeking, wind-down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5084064"/>
            <a:ext cx="4846320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5811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45811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risk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E10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GROWTH MANDATE — WE DON'T NEED TO RAISE THE CEILING. WE NEED TO RAISE THE FLOOR.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GRAVITY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channels by volume.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772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737360"/>
            <a:ext cx="73152" cy="1325880"/>
          </a:xfrm>
          <a:prstGeom prst="rect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Sports is King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778240" y="21488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volume and correlates directly with the 90% male, weekend-peak profile.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595360" y="3291840"/>
            <a:ext cx="73152" cy="1325880"/>
          </a:xfrm>
          <a:prstGeom prst="rect">
            <a:avLst/>
          </a:prstGeom>
          <a:solidFill>
            <a:srgbClr val="E8458F"/>
          </a:solidFill>
          <a:ln w="12700">
            <a:solidFill>
              <a:srgbClr val="E845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Youth Culture Surge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778240" y="3703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 &amp; Trace rank 3rd &amp; 4th — strong music engagement from 26–35.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95360" y="4846320"/>
            <a:ext cx="73152" cy="1325880"/>
          </a:xfrm>
          <a:prstGeom prst="rect">
            <a:avLst/>
          </a:prstGeom>
          <a:solidFill>
            <a:srgbClr val="4F8DEF"/>
          </a:solidFill>
          <a:ln w="12700">
            <a:solidFill>
              <a:srgbClr val="4F8D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0" y="4846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Drama Wedge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778240" y="5257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Magic &amp; E! signal an entry point to the female audience.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Event-driven spikes — gravity wells.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11064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without major events see total traffic collapse — we are an </a:t>
            </a:r>
            <a:pPr indent="0" marL="0">
              <a:buNone/>
            </a:pPr>
            <a:r>
              <a:rPr lang="en-US" sz="1400" b="1" dirty="0">
                <a:solidFill>
                  <a:srgbClr val="F2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Destination</a:t>
            </a:r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yet a </a:t>
            </a:r>
            <a:pPr indent="0" marL="0">
              <a:buNone/>
            </a:pPr>
            <a:r>
              <a:rPr lang="en-US" sz="1400" b="1" dirty="0">
                <a:solidFill>
                  <a:srgbClr val="FF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Habit.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Anatomy of a BrightTV Viewer.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737360"/>
          </a:xfrm>
          <a:prstGeom prst="roundRect">
            <a:avLst>
              <a:gd name="adj" fmla="val 7895"/>
            </a:avLst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91440" cy="1737360"/>
          </a:xfrm>
          <a:prstGeom prst="rect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90% Male Core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Concentrated, ultra-engaged.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40680" cy="1737360"/>
          </a:xfrm>
          <a:prstGeom prst="roundRect">
            <a:avLst>
              <a:gd name="adj" fmla="val 7895"/>
            </a:avLst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645920"/>
            <a:ext cx="91440" cy="1737360"/>
          </a:xfrm>
          <a:prstGeom prst="rect">
            <a:avLst/>
          </a:prstGeom>
          <a:solidFill>
            <a:srgbClr val="E8458F"/>
          </a:solidFill>
          <a:ln w="12700">
            <a:solidFill>
              <a:srgbClr val="E845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659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Sports Dominance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6060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drives the chart.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440680" cy="1737360"/>
          </a:xfrm>
          <a:prstGeom prst="roundRect">
            <a:avLst>
              <a:gd name="adj" fmla="val 7895"/>
            </a:avLst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20440"/>
            <a:ext cx="91440" cy="1737360"/>
          </a:xfrm>
          <a:prstGeom prst="rect">
            <a:avLst/>
          </a:prstGeom>
          <a:solidFill>
            <a:srgbClr val="4F8DEF"/>
          </a:solidFill>
          <a:ln w="12700">
            <a:solidFill>
              <a:srgbClr val="4F8D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404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Extreme Volatility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spikes, weekday troughs.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520440"/>
            <a:ext cx="5440680" cy="1737360"/>
          </a:xfrm>
          <a:prstGeom prst="roundRect">
            <a:avLst>
              <a:gd name="adj" fmla="val 7895"/>
            </a:avLst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520440"/>
            <a:ext cx="91440" cy="17373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8404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Weekend / Evening Reach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44805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Fri–Sat, 17:00–19:00.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have captured the event-driven sports fan.</a:t>
            </a:r>
            <a:pPr algn="ctr" indent="0" marL="0">
              <a:buNone/>
            </a:pPr>
            <a:r>
              <a:rPr lang="en-US" sz="1400" dirty="0">
                <a:solidFill>
                  <a:srgbClr val="8E94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Sustainable growth requires moving from a weekend </a:t>
            </a:r>
            <a:pPr algn="ctr" indent="0" marL="0">
              <a:buNone/>
            </a:pPr>
            <a:r>
              <a:rPr lang="en-US" sz="1400" b="1" dirty="0">
                <a:solidFill>
                  <a:srgbClr val="F26B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destination</a:t>
            </a:r>
            <a:pPr algn="ctr" indent="0" marL="0">
              <a:buNone/>
            </a:pPr>
            <a:r>
              <a:rPr lang="en-US" sz="1400" dirty="0">
                <a:solidFill>
                  <a:srgbClr val="8E94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 a weekday </a:t>
            </a:r>
            <a:pPr algn="ctr" indent="0" marL="0">
              <a:buNone/>
            </a:pPr>
            <a:r>
              <a:rPr lang="en-US" sz="1400" b="1" dirty="0">
                <a:solidFill>
                  <a:srgbClr val="FF8B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necessity.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 GROWTH 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the dominant profile to the target profile.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151826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0" y="1828800"/>
            <a:ext cx="2743200" cy="457200"/>
          </a:xfrm>
          <a:prstGeom prst="rect">
            <a:avLst/>
          </a:prstGeom>
          <a:solidFill>
            <a:srgbClr val="151826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35040" y="1828800"/>
            <a:ext cx="2926080" cy="457200"/>
          </a:xfrm>
          <a:prstGeom prst="rect">
            <a:avLst/>
          </a:prstGeom>
          <a:solidFill>
            <a:srgbClr val="151826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961120" y="1828800"/>
            <a:ext cx="2743200" cy="457200"/>
          </a:xfrm>
          <a:prstGeom prst="rect">
            <a:avLst/>
          </a:prstGeom>
          <a:solidFill>
            <a:srgbClr val="151826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2743200" cy="109728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86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DOMINANT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286000"/>
            <a:ext cx="2743200" cy="109728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286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Male, 26–35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2286000"/>
            <a:ext cx="2926080" cy="109728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286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/ Adrenaline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61120" y="2286000"/>
            <a:ext cx="2743200" cy="109728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2286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peaks · Volatile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2743200" cy="1097280"/>
          </a:xfrm>
          <a:prstGeom prst="rect">
            <a:avLst/>
          </a:prstGeom>
          <a:solidFill>
            <a:srgbClr val="1F1A22"/>
          </a:solidFill>
          <a:ln w="6350">
            <a:solidFill>
              <a:srgbClr val="F26B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832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EXPANSION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383280"/>
            <a:ext cx="2743200" cy="1097280"/>
          </a:xfrm>
          <a:prstGeom prst="rect">
            <a:avLst/>
          </a:prstGeom>
          <a:solidFill>
            <a:srgbClr val="1F1A22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3832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Female, 26–50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3383280"/>
            <a:ext cx="2926080" cy="1097280"/>
          </a:xfrm>
          <a:prstGeom prst="rect">
            <a:avLst/>
          </a:prstGeom>
          <a:solidFill>
            <a:srgbClr val="1F1A22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3832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/ Lifestyle / Reality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61120" y="3383280"/>
            <a:ext cx="2743200" cy="1097280"/>
          </a:xfrm>
          <a:prstGeom prst="rect">
            <a:avLst/>
          </a:prstGeom>
          <a:solidFill>
            <a:srgbClr val="1F1A22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33832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habit · Consistent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11064240" cy="1645920"/>
          </a:xfrm>
          <a:prstGeom prst="roundRect">
            <a:avLst>
              <a:gd name="adj" fmla="val 8333"/>
            </a:avLst>
          </a:prstGeom>
          <a:solidFill>
            <a:srgbClr val="1B1F2E"/>
          </a:solidFill>
          <a:ln w="9525">
            <a:solidFill>
              <a:srgbClr val="F26B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892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STRATEGIC ACTION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52120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E! Entertainment, Africa Magic and localized sitcoms is not just content expansion — it is an engineered strategy to capture the female demographic and smooth the weekly volatility curve.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PLAN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Raising the Monday baseline.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572000"/>
          </a:xfrm>
          <a:prstGeom prst="roundRect">
            <a:avLst>
              <a:gd name="adj" fmla="val 4557"/>
            </a:avLst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731520" cy="731520"/>
          </a:xfrm>
          <a:prstGeom prst="ellipse">
            <a:avLst/>
          </a:prstGeom>
          <a:solidFill>
            <a:srgbClr val="F26B2C">
              <a:alpha val="20000"/>
            </a:srgbClr>
          </a:solidFill>
          <a:ln w="12700">
            <a:solidFill>
              <a:srgbClr val="F26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6B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BRIDGE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Sports Highlights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'Monday Night Review' or 'Top Goals' show.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029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5257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weekend sports viewers into Monday engagement.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737360"/>
            <a:ext cx="3611880" cy="4572000"/>
          </a:xfrm>
          <a:prstGeom prst="roundRect">
            <a:avLst>
              <a:gd name="adj" fmla="val 4557"/>
            </a:avLst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965960"/>
            <a:ext cx="731520" cy="731520"/>
          </a:xfrm>
          <a:prstGeom prst="ellipse">
            <a:avLst/>
          </a:prstGeom>
          <a:solidFill>
            <a:srgbClr val="E8458F">
              <a:alpha val="20000"/>
            </a:srgbClr>
          </a:solidFill>
          <a:ln w="12700">
            <a:solidFill>
              <a:srgbClr val="E845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45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WIND-DOWN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Drama Marathons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3703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17720" y="3931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Africa Magic &amp; sitcoms exclusively on Mondays.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5029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17720" y="5257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audiences seeking low-stakes entertainment after the workday.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1737360"/>
            <a:ext cx="3611880" cy="4572000"/>
          </a:xfrm>
          <a:prstGeom prst="roundRect">
            <a:avLst>
              <a:gd name="adj" fmla="val 4557"/>
            </a:avLst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1965960"/>
            <a:ext cx="731520" cy="731520"/>
          </a:xfrm>
          <a:prstGeom prst="ellipse">
            <a:avLst/>
          </a:prstGeom>
          <a:solidFill>
            <a:srgbClr val="F2C94C">
              <a:alpha val="20000"/>
            </a:srgbClr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1248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HOOK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Incentivized Viewing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0" y="3703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0" y="3931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'Monday Mystery' rewards.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5029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12480" y="5257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loyalty points for logging in on the lowest-consumption day.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PLAN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Content diversification funnel.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8048" y="1737360"/>
            <a:ext cx="10515600" cy="1234440"/>
          </a:xfrm>
          <a:prstGeom prst="roundRect">
            <a:avLst>
              <a:gd name="adj" fmla="val 11111"/>
            </a:avLst>
          </a:prstGeom>
          <a:solidFill>
            <a:srgbClr val="1B1F2E"/>
          </a:solidFill>
          <a:ln w="9525">
            <a:solidFill>
              <a:srgbClr val="F26B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3808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OF FUNNEL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3808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Acquisition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61408" y="192024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Refer-a-friend campaigns leveraging the highly social 26–35 core. Discounts for bringing new users on platform.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81048" y="3154680"/>
            <a:ext cx="8229600" cy="1234440"/>
          </a:xfrm>
          <a:prstGeom prst="roundRect">
            <a:avLst>
              <a:gd name="adj" fmla="val 11111"/>
            </a:avLst>
          </a:prstGeom>
          <a:solidFill>
            <a:srgbClr val="1B1F2E"/>
          </a:solidFill>
          <a:ln w="9525">
            <a:solidFill>
              <a:srgbClr val="E845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6808" y="3264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45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 OF FUNNEL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46808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Engagement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04408" y="3337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ads for female-centric content (E!, lifestyle) and localised pushes in low-penetration provinces.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24048" y="4572000"/>
            <a:ext cx="5943600" cy="1234440"/>
          </a:xfrm>
          <a:prstGeom prst="roundRect">
            <a:avLst>
              <a:gd name="adj" fmla="val 11111"/>
            </a:avLst>
          </a:prstGeom>
          <a:solidFill>
            <a:srgbClr val="1B1F2E"/>
          </a:solidFill>
          <a:ln w="9525">
            <a:solidFill>
              <a:srgbClr val="4F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9808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 OF FUNNEL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89808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Retention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47408" y="47548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premieres and push notifications timed to the 17:00–19:00 Golden Hour where intent is at its peak.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journey from acquisition to long-term loyalty through targeted interventions.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STRATEGIC ACTION 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Architecting the daily habit.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457200"/>
          </a:xfrm>
          <a:prstGeom prst="rect">
            <a:avLst/>
          </a:prstGeom>
          <a:solidFill>
            <a:srgbClr val="151826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51760" y="1828800"/>
            <a:ext cx="2468880" cy="457200"/>
          </a:xfrm>
          <a:prstGeom prst="rect">
            <a:avLst/>
          </a:prstGeom>
          <a:solidFill>
            <a:srgbClr val="151826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20640" y="1828800"/>
            <a:ext cx="3291840" cy="457200"/>
          </a:xfrm>
          <a:prstGeom prst="rect">
            <a:avLst/>
          </a:prstGeom>
          <a:solidFill>
            <a:srgbClr val="151826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PLAY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12480" y="1828800"/>
            <a:ext cx="3200400" cy="457200"/>
          </a:xfrm>
          <a:prstGeom prst="rect">
            <a:avLst/>
          </a:prstGeom>
          <a:solidFill>
            <a:srgbClr val="151826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ROI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2103120" cy="96012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56032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F26B2C">
              <a:alpha val="20000"/>
            </a:srgbClr>
          </a:solidFill>
          <a:ln w="6350">
            <a:solidFill>
              <a:srgbClr val="F2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60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RETENTION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2286000"/>
            <a:ext cx="2468880" cy="96012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28600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Monday Slump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2286000"/>
            <a:ext cx="3291840" cy="96012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2860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Mystery rewards &amp; highlight shows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0" y="2286000"/>
            <a:ext cx="3200400" cy="96012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28600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weekly engagement, lowered churn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2103120" cy="96012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52044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F26B2C">
              <a:alpha val="20000"/>
            </a:srgbClr>
          </a:solidFill>
          <a:ln w="6350">
            <a:solidFill>
              <a:srgbClr val="F26B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DEMOGRAPHIC EXPANSION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51760" y="3246120"/>
            <a:ext cx="2468880" cy="96012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324612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male audience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20640" y="3246120"/>
            <a:ext cx="3291840" cy="96012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32461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E! Entertainment &amp; Africa Magic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3246120"/>
            <a:ext cx="3200400" cy="96012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324612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unserved female market, build daily habit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206240"/>
            <a:ext cx="2103120" cy="96012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448056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F26B2C">
              <a:alpha val="20000"/>
            </a:srgbClr>
          </a:solidFill>
          <a:ln w="6350">
            <a:solidFill>
              <a:srgbClr val="F26B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480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2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51760" y="4206240"/>
            <a:ext cx="2468880" cy="96012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42062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NCape / FState penetration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120640" y="4206240"/>
            <a:ext cx="3291840" cy="96012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42062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Refer-a-friend + regionalised campaigns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412480" y="4206240"/>
            <a:ext cx="3200400" cy="960120"/>
          </a:xfrm>
          <a:prstGeom prst="rect">
            <a:avLst/>
          </a:prstGeom>
          <a:solidFill>
            <a:srgbClr val="1B1F2E"/>
          </a:solidFill>
          <a:ln w="6350">
            <a:solidFill>
              <a:srgbClr val="2A2F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0" y="420624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acquisition driven by 26–35 core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BrightTV has won the weekend.</a:t>
            </a:r>
            <a:pPr algn="ctr" indent="0" marL="0">
              <a:buNone/>
            </a:pPr>
            <a:r>
              <a:rPr lang="en-US" sz="2200" b="1" dirty="0">
                <a:solidFill>
                  <a:srgbClr val="FF8B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Now, we architect the daily habit.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A2F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BrightTV · The Viewing Pulse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1414455" y="6556248"/>
            <a:ext cx="91440" cy="91440"/>
          </a:xfrm>
          <a:prstGeom prst="ellipse">
            <a:avLst/>
          </a:prstGeom>
          <a:solidFill>
            <a:srgbClr val="F26B2C"/>
          </a:solidFill>
          <a:ln w="12700">
            <a:solidFill>
              <a:srgbClr val="F26B2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— The Viewing Pulse</dc:title>
  <dc:subject>PptxGenJS Presentation</dc:subject>
  <dc:creator>Lerato Monyebodi</dc:creator>
  <cp:lastModifiedBy>Lerato Monyebodi</cp:lastModifiedBy>
  <cp:revision>1</cp:revision>
  <dcterms:created xsi:type="dcterms:W3CDTF">2026-04-21T19:17:04Z</dcterms:created>
  <dcterms:modified xsi:type="dcterms:W3CDTF">2026-04-21T19:17:04Z</dcterms:modified>
</cp:coreProperties>
</file>